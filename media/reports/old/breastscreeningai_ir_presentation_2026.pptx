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9"/>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51435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 Id="rId14" Type="http://schemas.openxmlformats.org/officeDocument/2006/relationships/slide" Target="slides/slide14.xml"/>
<Relationship Id="rId15" Type="http://schemas.openxmlformats.org/officeDocument/2006/relationships/slide" Target="slides/slide15.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Master" Target="slideMasters/slideMaster1.xml"/>
<Relationship Id="rId20"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BreastScreening-AI IR Presentation 2026</a:t>
            </a:r>
          </a:p>
          <a:p>
            <a:r>
              <a:rPr lang="en-US" sz="1250">
                <a:solidFill>
                  <a:srgbClr val="627D98"/>
                </a:solidFill>
              </a:rPr>
              <a:t>Interim period ended 28 February 2026</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Human-centered, multimodal AI for breast-imaging decision support.</a:t>
            </a:r>
          </a:p>
          <a:p>
            <a:pPr marL="285750" indent="-142875">
              <a:buChar char="•"/>
              <a:defRPr sz="1600"/>
            </a:pPr>
            <a:r>
              <a:rPr lang="en-US" sz="1600">
                <a:solidFill>
                  <a:srgbClr val="243B53"/>
                </a:solidFill>
              </a:rPr>
              <a:t>Developed from a long-running research and clinical workflow programme.</a:t>
            </a:r>
          </a:p>
          <a:p>
            <a:pPr marL="285750" indent="-142875">
              <a:buChar char="•"/>
              <a:defRPr sz="1600"/>
            </a:pPr>
            <a:r>
              <a:rPr lang="en-US" sz="1600">
                <a:solidFill>
                  <a:srgbClr val="243B53"/>
                </a:solidFill>
              </a:rPr>
              <a:t>Prepared from reviewed financial, research, grant, and project records.</a:t>
            </a:r>
          </a:p>
          <a:p>
            <a:pPr marL="285750" indent="-142875">
              <a:buChar char="•"/>
              <a:defRPr sz="1600"/>
            </a:pPr>
            <a:r>
              <a:rPr lang="en-US" sz="1600">
                <a:solidFill>
                  <a:srgbClr val="243B53"/>
                </a:solidFill>
              </a:rPr>
              <a:t>No unsupported customer, revenue, valuation, regulatory authorization, or deployment claims are included.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Publication date: 15 June 2026 | Category: IR Presentation | Evidence standard: Source-backed only</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Executive Snapshot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Early-stage, research-intensive medical AI company.</a:t>
            </a:r>
          </a:p>
          <a:p>
            <a:pPr marL="285750" indent="-142875">
              <a:buChar char="•"/>
              <a:defRPr sz="1600"/>
            </a:pPr>
            <a:r>
              <a:rPr lang="en-US" sz="1600">
                <a:solidFill>
                  <a:srgbClr val="243B53"/>
                </a:solidFill>
              </a:rPr>
              <a:t>Translating multimodal breast-imaging research into a structured platform and workflow proposition.</a:t>
            </a:r>
          </a:p>
          <a:p>
            <a:pPr marL="285750" indent="-142875">
              <a:buChar char="•"/>
              <a:defRPr sz="1600"/>
            </a:pPr>
            <a:r>
              <a:rPr lang="en-US" sz="1600">
                <a:solidFill>
                  <a:srgbClr val="243B53"/>
                </a:solidFill>
              </a:rPr>
              <a:t>Investor diligence should focus on funding timing, working-capital discipline, clinical validation progress, and evidence-governed claims.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Total assets: EUR 7,476.39 | Cash: EUR 258.30 | Equity: EUR -1,064.88 | Interim net result: EUR -4,575.68</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Company Purpose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BreastScreening-AI studies and develops multimodal breast-imaging decision support across mammography, ultrasound, and MRI.</a:t>
            </a:r>
          </a:p>
          <a:p>
            <a:pPr marL="285750" indent="-142875">
              <a:buChar char="•"/>
              <a:defRPr sz="1600"/>
            </a:pPr>
            <a:r>
              <a:rPr lang="en-US" sz="1600">
                <a:solidFill>
                  <a:srgbClr val="243B53"/>
                </a:solidFill>
              </a:rPr>
              <a:t>The project is positioned to strengthen clinical judgment rather than replace clinicians.</a:t>
            </a:r>
          </a:p>
          <a:p>
            <a:pPr marL="285750" indent="-142875">
              <a:buChar char="•"/>
              <a:defRPr sz="1600"/>
            </a:pPr>
            <a:r>
              <a:rPr lang="en-US" sz="1600">
                <a:solidFill>
                  <a:srgbClr val="243B53"/>
                </a:solidFill>
              </a:rPr>
              <a:t>Research software and information must not be presented as medical advice, diagnosis, emergency support, regulatory authorization, or clinical deployment unless directly supported.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Modality scope: MG, US, MRI | Clinical position: Decision support | Public language: Conservative</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Research Lineage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Documented lineage: MIMBCD-UI to MIDA and BreastScreening to MIA-BREAST to BreastScreening-AI and AI-Radiologist.</a:t>
            </a:r>
          </a:p>
          <a:p>
            <a:pPr marL="285750" indent="-142875">
              <a:buChar char="•"/>
              <a:defRPr sz="1600"/>
            </a:pPr>
            <a:r>
              <a:rPr lang="en-US" sz="1600">
                <a:solidFill>
                  <a:srgbClr val="243B53"/>
                </a:solidFill>
              </a:rPr>
              <a:t>Earliest documented fieldwork began on 20 November 2015 at Hospital Amadora-Sintra with radiologist Clara Aleluia.</a:t>
            </a:r>
          </a:p>
          <a:p>
            <a:pPr marL="285750" indent="-142875">
              <a:buChar char="•"/>
              <a:defRPr sz="1600"/>
            </a:pPr>
            <a:r>
              <a:rPr lang="en-US" sz="1600">
                <a:solidFill>
                  <a:srgbClr val="243B53"/>
                </a:solidFill>
              </a:rPr>
              <a:t>The work evolved from clinical requirements and multimodal imaging into explainability, trust, workload, adoption, structured reporting, and responsible AI.</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Start: 20 Nov 2015 | Lineage: 2015 to 2026 | Core method: Human-centered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Product Thesis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Support breast-imaging work through a human-centered, multimodal AI platform.</a:t>
            </a:r>
          </a:p>
          <a:p>
            <a:pPr marL="285750" indent="-142875">
              <a:buChar char="•"/>
              <a:defRPr sz="1600"/>
            </a:pPr>
            <a:r>
              <a:rPr lang="en-US" sz="1600">
                <a:solidFill>
                  <a:srgbClr val="243B53"/>
                </a:solidFill>
              </a:rPr>
              <a:t>Mammography supports screening-scale detection and population workflow context.</a:t>
            </a:r>
          </a:p>
          <a:p>
            <a:pPr marL="285750" indent="-142875">
              <a:buChar char="•"/>
              <a:defRPr sz="1600"/>
            </a:pPr>
            <a:r>
              <a:rPr lang="en-US" sz="1600">
                <a:solidFill>
                  <a:srgbClr val="243B53"/>
                </a:solidFill>
              </a:rPr>
              <a:t>Ultrasound supports lesion characterization and adjunct diagnostic interpretation.</a:t>
            </a:r>
          </a:p>
          <a:p>
            <a:pPr marL="285750" indent="-142875">
              <a:buChar char="•"/>
              <a:defRPr sz="1600"/>
            </a:pPr>
            <a:r>
              <a:rPr lang="en-US" sz="1600">
                <a:solidFill>
                  <a:srgbClr val="243B53"/>
                </a:solidFill>
              </a:rPr>
              <a:t>MRI supports higher-complexity assessment and multimodal completeness.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Platform: Multimodal | Workflow: Clinician-centered | Evidence: Governed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Evidence Foundation</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A historical controlled study included 45 clinicians from nine institutions.</a:t>
            </a:r>
          </a:p>
          <a:p>
            <a:pPr marL="285750" indent="-142875">
              <a:buChar char="•"/>
              <a:defRPr sz="1600"/>
            </a:pPr>
            <a:r>
              <a:rPr lang="en-US" sz="1600">
                <a:solidFill>
                  <a:srgbClr val="243B53"/>
                </a:solidFill>
              </a:rPr>
              <a:t>Reported outcomes included 27% fewer false positives, 4% fewer false negatives, three minutes shorter diagnosis time, and 91% positive expectations and satisfaction.</a:t>
            </a:r>
          </a:p>
          <a:p>
            <a:pPr marL="285750" indent="-142875">
              <a:buChar char="•"/>
              <a:defRPr sz="1600"/>
            </a:pPr>
            <a:r>
              <a:rPr lang="en-US" sz="1600">
                <a:solidFill>
                  <a:srgbClr val="243B53"/>
                </a:solidFill>
              </a:rPr>
              <a:t>Figures belong to the documented controlled study and must not be generalized as current product-wide performance or real-world deployment impact without further validation.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Clinicians: 45 | Institutions: 9 | False positives: 27% fewer | Diagnosis time: 3 min shorter</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Exploratory Clinical Work</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Hospital da Luz exploratory study involved seven physicians, approximately 11 patients, 23 images, and 110 paired observations.</a:t>
            </a:r>
          </a:p>
          <a:p>
            <a:pPr marL="285750" indent="-142875">
              <a:buChar char="•"/>
              <a:defRPr sz="1600"/>
            </a:pPr>
            <a:r>
              <a:rPr lang="en-US" sz="1600">
                <a:solidFill>
                  <a:srgbClr val="243B53"/>
                </a:solidFill>
              </a:rPr>
              <a:t>Exploratory triage-level decision accuracy increased by 11.82 percentage points, with 81.82% decision stability and p = 0.0036.</a:t>
            </a:r>
          </a:p>
          <a:p>
            <a:pPr marL="285750" indent="-142875">
              <a:buChar char="•"/>
              <a:defRPr sz="1600"/>
            </a:pPr>
            <a:r>
              <a:rPr lang="en-US" sz="1600">
                <a:solidFill>
                  <a:srgbClr val="243B53"/>
                </a:solidFill>
              </a:rPr>
              <a:t>The study is exploratory and limited by sample size. BI-RADS remains the primary clinical reference.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Physicians: 7 | Images: 23 | Paired observations: 110 | Decision stability: 81.82%</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Clinical Workflow Development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CHTMAD/ULSTMAD fieldwork was documented from 17 to 21 November 2025, 5 to 9 January 2026, and 26 to 30 January 2026.</a:t>
            </a:r>
          </a:p>
          <a:p>
            <a:pPr marL="285750" indent="-142875">
              <a:buChar char="•"/>
              <a:defRPr sz="1600"/>
            </a:pPr>
            <a:r>
              <a:rPr lang="en-US" sz="1600">
                <a:solidFill>
                  <a:srgbClr val="243B53"/>
                </a:solidFill>
              </a:rPr>
              <a:t>Focus areas included structured reporting, human-machine readability, and ethics-approved anonymized research.</a:t>
            </a:r>
          </a:p>
          <a:p>
            <a:pPr marL="285750" indent="-142875">
              <a:buChar char="•"/>
              <a:defRPr sz="1600"/>
            </a:pPr>
            <a:r>
              <a:rPr lang="en-US" sz="1600">
                <a:solidFill>
                  <a:srgbClr val="243B53"/>
                </a:solidFill>
              </a:rPr>
              <a:t>No consolidated quantitative results should be claimed until analysis is complete. Infrastructure access remains a dependency.</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Fieldwork windows: 3 | Latest window: 26 to 30 Jan 2026 | Result status: Pending consolidation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Funding Context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EIC Pre-Accelerator proposal 101310071 is documented as a Horizon Europe Lump Sum Grant proposal.</a:t>
            </a:r>
          </a:p>
          <a:p>
            <a:pPr marL="285750" indent="-142875">
              <a:buChar char="•"/>
              <a:defRPr sz="1600"/>
            </a:pPr>
            <a:r>
              <a:rPr lang="en-US" sz="1600">
                <a:solidFill>
                  <a:srgbClr val="243B53"/>
                </a:solidFill>
              </a:rPr>
              <a:t>Expected support is up to EUR 500,000 over an 18-month duration.</a:t>
            </a:r>
          </a:p>
          <a:p>
            <a:pPr marL="285750" indent="-142875">
              <a:buChar char="•"/>
              <a:defRPr sz="1600"/>
            </a:pPr>
            <a:r>
              <a:rPr lang="en-US" sz="1600">
                <a:solidFill>
                  <a:srgbClr val="243B53"/>
                </a:solidFill>
              </a:rPr>
              <a:t>Grant Agreement was ready for signature on 10 June 2026 and signed by the coordinator on 12 June 2026.</a:t>
            </a:r>
          </a:p>
          <a:p>
            <a:pPr marL="285750" indent="-142875">
              <a:buChar char="•"/>
              <a:defRPr sz="1600"/>
            </a:pPr>
            <a:r>
              <a:rPr lang="en-US" sz="1600">
                <a:solidFill>
                  <a:srgbClr val="243B53"/>
                </a:solidFill>
              </a:rPr>
              <a:t>EU services signature, final payment schedule, pre-financing percentage, first-tranche amount, and exact payment date were not confirmed in the reviewed source set.</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Proposal: 101310071 | Potential support: Up to EUR 500,000 | Duration: 18 months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Financial Position</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Interim FY2026 figures cover the period ended 28 February 2026.</a:t>
            </a:r>
          </a:p>
          <a:p>
            <a:pPr marL="285750" indent="-142875">
              <a:buChar char="•"/>
              <a:defRPr sz="1600"/>
            </a:pPr>
            <a:r>
              <a:rPr lang="en-US" sz="1600">
                <a:solidFill>
                  <a:srgbClr val="243B53"/>
                </a:solidFill>
              </a:rPr>
              <a:t>Total assets were EUR 7,476.39 and cash and deposits were EUR 258.30.</a:t>
            </a:r>
          </a:p>
          <a:p>
            <a:pPr marL="285750" indent="-142875">
              <a:buChar char="•"/>
              <a:defRPr sz="1600"/>
            </a:pPr>
            <a:r>
              <a:rPr lang="en-US" sz="1600">
                <a:solidFill>
                  <a:srgbClr val="243B53"/>
                </a:solidFill>
              </a:rPr>
              <a:t>Equity was EUR -1,064.88, liabilities were EUR 8,541.27, and supplier liabilities were EUR 7,866.32.</a:t>
            </a:r>
          </a:p>
          <a:p>
            <a:pPr marL="285750" indent="-142875">
              <a:buChar char="•"/>
              <a:defRPr sz="1600"/>
            </a:pPr>
            <a:r>
              <a:rPr lang="en-US" sz="1600">
                <a:solidFill>
                  <a:srgbClr val="243B53"/>
                </a:solidFill>
              </a:rPr>
              <a:t>The interim net result was EUR -4,575.68 and should not be annualized.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Assets: EUR 7,476.39 | Cash: EUR 258.30 | Liabilities: EUR 8,541.27 | Supplier liabilities: EUR 7,866.32</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Historical Financial Context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FY2024: total assets of EUR 1,123.38, cash and deposits of EUR 721.34, equity of EUR -611.69, liabilities of EUR 1,735.07, subsidies of EUR 1,796.63, and net result of EUR -711.69.</a:t>
            </a:r>
          </a:p>
          <a:p>
            <a:pPr marL="285750" indent="-142875">
              <a:buChar char="•"/>
              <a:defRPr sz="1600"/>
            </a:pPr>
            <a:r>
              <a:rPr lang="en-US" sz="1600">
                <a:solidFill>
                  <a:srgbClr val="243B53"/>
                </a:solidFill>
              </a:rPr>
              <a:t>FY2025: total assets of EUR 12,458.22, cash and deposits of EUR 3,856.90, equity of EUR 3,510.80, liabilities of EUR 8,947.42, subsidies of EUR 24,500.00, sales and services of EUR 100.00, other income of EUR 3,000.00, and net result of EUR 1,122.49.</a:t>
            </a:r>
          </a:p>
          <a:p>
            <a:pPr marL="285750" indent="-142875">
              <a:buChar char="•"/>
              <a:defRPr sz="1600"/>
            </a:pPr>
            <a:r>
              <a:rPr lang="en-US" sz="1600">
                <a:solidFill>
                  <a:srgbClr val="243B53"/>
                </a:solidFill>
              </a:rPr>
              <a:t>FY2025 shows a larger operating base and positive result, but sales and services remained limited.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FY2024 result: EUR -711.69 | FY2025 result: EUR 1,122.49 | FY2025 sales: EUR 100.00</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Recognition and Venture Development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European Innovation Academy Porto 2023: named among the top ten teams from 100 international startup teams.</a:t>
            </a:r>
          </a:p>
          <a:p>
            <a:pPr marL="285750" indent="-142875">
              <a:buChar char="•"/>
              <a:defRPr sz="1600"/>
            </a:pPr>
            <a:r>
              <a:rPr lang="en-US" sz="1600">
                <a:solidFill>
                  <a:srgbClr val="243B53"/>
                </a:solidFill>
              </a:rPr>
              <a:t>WIPO Global Awards 2024: recognized as one of 25 finalists selected from 667 applications across 107 countries.</a:t>
            </a:r>
          </a:p>
          <a:p>
            <a:pPr marL="285750" indent="-142875">
              <a:buChar char="•"/>
              <a:defRPr sz="1600"/>
            </a:pPr>
            <a:r>
              <a:rPr lang="en-US" sz="1600">
                <a:solidFill>
                  <a:srgbClr val="243B53"/>
                </a:solidFill>
              </a:rPr>
              <a:t>S3E Start 2024: selected as one of 14 teams in the programme.</a:t>
            </a:r>
          </a:p>
          <a:p>
            <a:pPr marL="285750" indent="-142875">
              <a:buChar char="•"/>
              <a:defRPr sz="1600"/>
            </a:pPr>
            <a:r>
              <a:rPr lang="en-US" sz="1600">
                <a:solidFill>
                  <a:srgbClr val="243B53"/>
                </a:solidFill>
              </a:rPr>
              <a:t>Recognitions support external visibility and venture-development credibility, not customers, investment proceeds, clinical deployment, regulatory authorization, or recurring revenue.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EIA teams: 100 | WIPO finalists: 25 | WIPO applications: 667 | S3E cohort: 14</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Commercial Progress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Confirmed commercial revenue in the reviewed financial source set is limited.</a:t>
            </a:r>
          </a:p>
          <a:p>
            <a:pPr marL="285750" indent="-142875">
              <a:buChar char="•"/>
              <a:defRPr sz="1600"/>
            </a:pPr>
            <a:r>
              <a:rPr lang="en-US" sz="1600">
                <a:solidFill>
                  <a:srgbClr val="243B53"/>
                </a:solidFill>
              </a:rPr>
              <a:t>FY2025 sales and services were EUR 100.00.</a:t>
            </a:r>
          </a:p>
          <a:p>
            <a:pPr marL="285750" indent="-142875">
              <a:buChar char="•"/>
              <a:defRPr sz="1600"/>
            </a:pPr>
            <a:r>
              <a:rPr lang="en-US" sz="1600">
                <a:solidFill>
                  <a:srgbClr val="243B53"/>
                </a:solidFill>
              </a:rPr>
              <a:t>No source-backed evidence in the reviewed set establishes recurring revenue, signed customer contracts, paid deployments, valuation, or a repeatable sales model.</a:t>
            </a:r>
          </a:p>
          <a:p>
            <a:pPr marL="285750" indent="-142875">
              <a:buChar char="•"/>
              <a:defRPr sz="1600"/>
            </a:pPr>
            <a:r>
              <a:rPr lang="en-US" sz="1600">
                <a:solidFill>
                  <a:srgbClr val="243B53"/>
                </a:solidFill>
              </a:rPr>
              <a:t>Commercial development should be presented as an execution priority rather than proven traction.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FY2025 sales and services: EUR 100.00 | Recurring revenue: Not established | Paid deployments: Not established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Partnerships and Ecosystem</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SNAP: European proposal development, EIC project management, and Grant Agreement Preparation.</a:t>
            </a:r>
          </a:p>
          <a:p>
            <a:pPr marL="285750" indent="-142875">
              <a:buChar char="•"/>
              <a:defRPr sz="1600"/>
            </a:pPr>
            <a:r>
              <a:rPr lang="en-US" sz="1600">
                <a:solidFill>
                  <a:srgbClr val="243B53"/>
                </a:solidFill>
              </a:rPr>
              <a:t>Leyton: Startup Voucher and PRR reporting, cost eligibility, and communication compliance.</a:t>
            </a:r>
          </a:p>
          <a:p>
            <a:pPr marL="285750" indent="-142875">
              <a:buChar char="•"/>
              <a:defRPr sz="1600"/>
            </a:pPr>
            <a:r>
              <a:rPr lang="en-US" sz="1600">
                <a:solidFill>
                  <a:srgbClr val="243B53"/>
                </a:solidFill>
              </a:rPr>
              <a:t>SAVEAS: intellectual-property strategy, freedom-to-operate, and related consultancy.</a:t>
            </a:r>
          </a:p>
          <a:p>
            <a:pPr marL="285750" indent="-142875">
              <a:buChar char="•"/>
              <a:defRPr sz="1600"/>
            </a:pPr>
            <a:r>
              <a:rPr lang="en-US" sz="1600">
                <a:solidFill>
                  <a:srgbClr val="243B53"/>
                </a:solidFill>
              </a:rPr>
              <a:t>KGSA: corporate, contractual, and broader legal matters.</a:t>
            </a:r>
          </a:p>
          <a:p>
            <a:pPr marL="285750" indent="-142875">
              <a:buChar char="•"/>
              <a:defRPr sz="1600"/>
            </a:pPr>
            <a:r>
              <a:rPr lang="en-US" sz="1600">
                <a:solidFill>
                  <a:srgbClr val="243B53"/>
                </a:solidFill>
              </a:rPr>
              <a:t>Complear: regulatory-strategy and independent-validation discussions.</a:t>
            </a:r>
          </a:p>
          <a:p>
            <a:pPr marL="285750" indent="-142875">
              <a:buChar char="•"/>
              <a:defRPr sz="1600"/>
            </a:pPr>
            <a:r>
              <a:rPr lang="en-US" sz="1600">
                <a:solidFill>
                  <a:srgbClr val="243B53"/>
                </a:solidFill>
              </a:rPr>
              <a:t>AAVANZ: EIC Pathfinder and Horizon Europe proposal preparation.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Evidence rule: Precise roles only | No implication: Clinical endorsement | No implication: Broader contracts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Risk Factors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Grant payment timing remains unresolved until final grant documentation confirms payment terms.</a:t>
            </a:r>
          </a:p>
          <a:p>
            <a:pPr marL="285750" indent="-142875">
              <a:buChar char="•"/>
              <a:defRPr sz="1600"/>
            </a:pPr>
            <a:r>
              <a:rPr lang="en-US" sz="1600">
                <a:solidFill>
                  <a:srgbClr val="243B53"/>
                </a:solidFill>
              </a:rPr>
              <a:t>Interim FY2026 cash position was low at 28 February 2026.</a:t>
            </a:r>
          </a:p>
          <a:p>
            <a:pPr marL="285750" indent="-142875">
              <a:buChar char="•"/>
              <a:defRPr sz="1600"/>
            </a:pPr>
            <a:r>
              <a:rPr lang="en-US" sz="1600">
                <a:solidFill>
                  <a:srgbClr val="243B53"/>
                </a:solidFill>
              </a:rPr>
              <a:t>Equity was negative at the interim reporting date.</a:t>
            </a:r>
          </a:p>
          <a:p>
            <a:pPr marL="285750" indent="-142875">
              <a:buChar char="•"/>
              <a:defRPr sz="1600"/>
            </a:pPr>
            <a:r>
              <a:rPr lang="en-US" sz="1600">
                <a:solidFill>
                  <a:srgbClr val="243B53"/>
                </a:solidFill>
              </a:rPr>
              <a:t>Supplier liabilities were material relative to assets.</a:t>
            </a:r>
          </a:p>
          <a:p>
            <a:pPr marL="285750" indent="-142875">
              <a:buChar char="•"/>
              <a:defRPr sz="1600"/>
            </a:pPr>
            <a:r>
              <a:rPr lang="en-US" sz="1600">
                <a:solidFill>
                  <a:srgbClr val="243B53"/>
                </a:solidFill>
              </a:rPr>
              <a:t>Commercial revenue remains limited in the reviewed records.</a:t>
            </a:r>
          </a:p>
          <a:p>
            <a:pPr marL="285750" indent="-142875">
              <a:buChar char="•"/>
              <a:defRPr sz="1600"/>
            </a:pPr>
            <a:r>
              <a:rPr lang="en-US" sz="1600">
                <a:solidFill>
                  <a:srgbClr val="243B53"/>
                </a:solidFill>
              </a:rPr>
              <a:t>Clinical evidence includes promising but bounded studies, including exploratory work with small samples.</a:t>
            </a:r>
          </a:p>
          <a:p>
            <a:pPr marL="285750" indent="-142875">
              <a:buChar char="•"/>
              <a:defRPr sz="1600"/>
            </a:pPr>
            <a:r>
              <a:rPr lang="en-US" sz="1600">
                <a:solidFill>
                  <a:srgbClr val="243B53"/>
                </a:solidFill>
              </a:rPr>
              <a:t>Regulatory authorization and clinical deployment are not established in the reviewed source set.</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Liquidity: Priority risk | Commercial proof: Pending | Regulatory status: Not authorized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Management Priorities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Confirm EIC Pre-Accelerator payment schedule, pre-financing percentage, and first cash receipt.</a:t>
            </a:r>
          </a:p>
          <a:p>
            <a:pPr marL="285750" indent="-142875">
              <a:buChar char="•"/>
              <a:defRPr sz="1600"/>
            </a:pPr>
            <a:r>
              <a:rPr lang="en-US" sz="1600">
                <a:solidFill>
                  <a:srgbClr val="243B53"/>
                </a:solidFill>
              </a:rPr>
              <a:t>Maintain working-capital discipline and supplier-liability control.</a:t>
            </a:r>
          </a:p>
          <a:p>
            <a:pPr marL="285750" indent="-142875">
              <a:buChar char="•"/>
              <a:defRPr sz="1600"/>
            </a:pPr>
            <a:r>
              <a:rPr lang="en-US" sz="1600">
                <a:solidFill>
                  <a:srgbClr val="243B53"/>
                </a:solidFill>
              </a:rPr>
              <a:t>Complete Hospital da Luz final reporting.</a:t>
            </a:r>
          </a:p>
          <a:p>
            <a:pPr marL="285750" indent="-142875">
              <a:buChar char="•"/>
              <a:defRPr sz="1600"/>
            </a:pPr>
            <a:r>
              <a:rPr lang="en-US" sz="1600">
                <a:solidFill>
                  <a:srgbClr val="243B53"/>
                </a:solidFill>
              </a:rPr>
              <a:t>Resolve ULSTMAD infrastructure dependencies.</a:t>
            </a:r>
          </a:p>
          <a:p>
            <a:pPr marL="285750" indent="-142875">
              <a:buChar char="•"/>
              <a:defRPr sz="1600"/>
            </a:pPr>
            <a:r>
              <a:rPr lang="en-US" sz="1600">
                <a:solidFill>
                  <a:srgbClr val="243B53"/>
                </a:solidFill>
              </a:rPr>
              <a:t>Reconcile public claims with source-backed evidence.</a:t>
            </a:r>
          </a:p>
          <a:p>
            <a:pPr marL="285750" indent="-142875">
              <a:buChar char="•"/>
              <a:defRPr sz="1600"/>
            </a:pPr>
            <a:r>
              <a:rPr lang="en-US" sz="1600">
                <a:solidFill>
                  <a:srgbClr val="243B53"/>
                </a:solidFill>
              </a:rPr>
              <a:t>Preserve conservative medical, financial, regulatory, and partnership language.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Funding: Confirm terms | Evidence: Complete reporting | Governance: Control claims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Investor Diligence Questions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When will EIC Pre-Accelerator funds be received, and in what tranches?</a:t>
            </a:r>
          </a:p>
          <a:p>
            <a:pPr marL="285750" indent="-142875">
              <a:buChar char="•"/>
              <a:defRPr sz="1600"/>
            </a:pPr>
            <a:r>
              <a:rPr lang="en-US" sz="1600">
                <a:solidFill>
                  <a:srgbClr val="243B53"/>
                </a:solidFill>
              </a:rPr>
              <a:t>What is the current runway after February 2026?</a:t>
            </a:r>
          </a:p>
          <a:p>
            <a:pPr marL="285750" indent="-142875">
              <a:buChar char="•"/>
              <a:defRPr sz="1600"/>
            </a:pPr>
            <a:r>
              <a:rPr lang="en-US" sz="1600">
                <a:solidFill>
                  <a:srgbClr val="243B53"/>
                </a:solidFill>
              </a:rPr>
              <a:t>Which clinical studies are complete, exploratory, or pending analysis?</a:t>
            </a:r>
          </a:p>
          <a:p>
            <a:pPr marL="285750" indent="-142875">
              <a:buChar char="•"/>
              <a:defRPr sz="1600"/>
            </a:pPr>
            <a:r>
              <a:rPr lang="en-US" sz="1600">
                <a:solidFill>
                  <a:srgbClr val="243B53"/>
                </a:solidFill>
              </a:rPr>
              <a:t>Which claims are validated, and which remain assumptions?</a:t>
            </a:r>
          </a:p>
          <a:p>
            <a:pPr marL="285750" indent="-142875">
              <a:buChar char="•"/>
              <a:defRPr sz="1600"/>
            </a:pPr>
            <a:r>
              <a:rPr lang="en-US" sz="1600">
                <a:solidFill>
                  <a:srgbClr val="243B53"/>
                </a:solidFill>
              </a:rPr>
              <a:t>What is the commercial route from research evidence to hospital adoption?</a:t>
            </a:r>
          </a:p>
          <a:p>
            <a:pPr marL="285750" indent="-142875">
              <a:buChar char="•"/>
              <a:defRPr sz="1600"/>
            </a:pPr>
            <a:r>
              <a:rPr lang="en-US" sz="1600">
                <a:solidFill>
                  <a:srgbClr val="243B53"/>
                </a:solidFill>
              </a:rPr>
              <a:t>Which regulatory pathway is intended, and what evidence is missing?</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Funding: Timing | Evidence: Validation status | Commercial: Route to adoption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Closing Message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BreastScreening-AI has a long research lineage, documented clinical workflow work, recognized venture-development milestones, and a non-dilutive funding pathway in progress.</a:t>
            </a:r>
          </a:p>
          <a:p>
            <a:pPr marL="285750" indent="-142875">
              <a:buChar char="•"/>
              <a:defRPr sz="1600"/>
            </a:pPr>
            <a:r>
              <a:rPr lang="en-US" sz="1600">
                <a:solidFill>
                  <a:srgbClr val="243B53"/>
                </a:solidFill>
              </a:rPr>
              <a:t>The investment case should be presented as an evidence-governed, early-stage medical AI opportunity that still requires disciplined execution across validation, regulation, funding, commercialization, and working-capital management.</a:t>
            </a:r>
          </a:p>
          <a:p>
            <a:pPr marL="285750" indent="-142875">
              <a:buChar char="•"/>
              <a:defRPr sz="1600"/>
            </a:pPr>
            <a:r>
              <a:rPr lang="en-US" sz="1600">
                <a:solidFill>
                  <a:srgbClr val="243B53"/>
                </a:solidFill>
              </a:rPr>
              <a:t>The strongest current narrative is deep research foundation, credible programme momentum, early financial reporting discipline, and a clear path toward stronger clinical and investor readiness.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Narrative: Evidence governed | Stage: Early-stage | Next proof: Execution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18</a:t>
            </a:r>
          </a:p>
        </p:txBody>
      </p:sp>
    </p:spTree>
  </p:cSld>
  <p:clrMapOvr>
    <a:masterClrMapping/>
  </p:clrMapOvr>
</p:sld>
</file>

<file path=ppt/theme/theme1.xml><?xml version="1.0" encoding="utf-8"?>
<a:theme xmlns:a="http://schemas.openxmlformats.org/drawingml/2006/main" name="BreastScreening-AI">
  <a:themeElements>
    <a:clrScheme name="BreastScreening-AI">
      <a:dk1>
        <a:srgbClr val="102A43"/>
      </a:dk1>
      <a:lt1>
        <a:srgbClr val="FFFFFF"/>
      </a:lt1>
      <a:dk2>
        <a:srgbClr val="243B53"/>
      </a:dk2>
      <a:lt2>
        <a:srgbClr val="F5F8FB"/>
      </a:lt2>
      <a:accent1>
        <a:srgbClr val="1479D1"/>
      </a:accent1>
      <a:accent2>
        <a:srgbClr val="0C8A7B"/>
      </a:accent2>
      <a:accent3>
        <a:srgbClr val="F5A623"/>
      </a:accent3>
      <a:accent4>
        <a:srgbClr val="627D98"/>
      </a:accent4>
      <a:accent5>
        <a:srgbClr val="D9E2EC"/>
      </a:accent5>
      <a:accent6>
        <a:srgbClr val="EAF4FB"/>
      </a:accent6>
      <a:hlink>
        <a:srgbClr val="1479D1"/>
      </a:hlink>
      <a:folHlink>
        <a:srgbClr val="0C8A7B"/>
      </a:folHlink>
    </a:clrScheme>
    <a:fontScheme name="Arial">
      <a:majorFont>
        <a:latin typeface="Arial"/>
      </a:majorFont>
      <a:minorFont>
        <a:latin typeface="Arial"/>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BreastScreening-AI</Application>
  <PresentationFormat>On-screen Show (16:9)</PresentationFormat>
  <Slides>18</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Presentation 2026</dc:title>
  <dc:creator>BreastScreening-AI</dc:creator>
  <cp:lastModifiedBy>BreastScreening-AI</cp:lastModifiedBy>
</cp:coreProperties>
</file>