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f579f0db8e4dc2" /><Relationship Type="http://schemas.openxmlformats.org/officeDocument/2006/relationships/extended-properties" Target="/docProps/app.xml" Id="Rac660fc526b54155" /><Relationship Type="http://schemas.openxmlformats.org/officeDocument/2006/relationships/officeDocument" Target="/ppt/presentation.xml" Id="R87da893b7a6e4d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7128a416b1471d"/>
  </p:sldMasterIdLst>
  <p:notesMasterIdLst>
    <p:notesMasterId xmlns:r="http://schemas.openxmlformats.org/officeDocument/2006/relationships" r:id="R72988a60005a4c55"/>
  </p:notesMasterIdLst>
  <p:sldIdLst>
    <p:sldId xmlns:r="http://schemas.openxmlformats.org/officeDocument/2006/relationships" id="256" r:id="Rd2f165a8f46c4c5d"/>
    <p:sldId xmlns:r="http://schemas.openxmlformats.org/officeDocument/2006/relationships" id="257" r:id="R5a88fa7cfd1a4253"/>
  </p:sldIdLst>
  <p:sldSz cx="5667375" cy="80200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d6723abb0f453a" /><Relationship Type="http://schemas.openxmlformats.org/officeDocument/2006/relationships/slideMaster" Target="/ppt/slideMasters/slideMaster1.xml" Id="R2b7128a416b1471d" /><Relationship Type="http://schemas.openxmlformats.org/officeDocument/2006/relationships/notesMaster" Target="/ppt/notesMasters/notesMaster1.xml" Id="R72988a60005a4c55" /><Relationship Type="http://schemas.openxmlformats.org/officeDocument/2006/relationships/presProps" Target="/ppt/presProps.xml" Id="Rc5d9be2b99bf41d7" /><Relationship Type="http://schemas.openxmlformats.org/officeDocument/2006/relationships/tableStyles" Target="/ppt/tableStyles.xml" Id="R677d2a6cf9a04325" /><Relationship Type="http://schemas.openxmlformats.org/officeDocument/2006/relationships/slide" Target="/ppt/slides/slide1.xml" Id="Rd2f165a8f46c4c5d" /><Relationship Type="http://schemas.openxmlformats.org/officeDocument/2006/relationships/slide" Target="/ppt/slides/slide2.xml" Id="R5a88fa7cfd1a42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871c88bb7c48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881563214e47c9" /><Relationship Type="http://schemas.openxmlformats.org/officeDocument/2006/relationships/notesMaster" Target="/ppt/notesMasters/notesMaster1.xml" Id="R34d706f1bac542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fc134654ca4705" /><Relationship Type="http://schemas.openxmlformats.org/officeDocument/2006/relationships/notesMaster" Target="/ppt/notesMasters/notesMaster1.xml" Id="Rd38f24602fae40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5b25b8636a48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ddf9f04ce54991" /><Relationship Type="http://schemas.openxmlformats.org/officeDocument/2006/relationships/slideLayout" Target="/ppt/slideLayouts/slideLayout1.xml" Id="Re364223390554a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64223390554a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910f4423c4b46" /><Relationship Type="http://schemas.openxmlformats.org/officeDocument/2006/relationships/notesSlide" Target="/ppt/notesSlides/notesSlide1.xml" Id="Rc9e238221fa445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701e74425472b" /><Relationship Type="http://schemas.openxmlformats.org/officeDocument/2006/relationships/notesSlide" Target="/ppt/notesSlides/notesSlide2.xml" Id="Reb440dc594fa40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47D1A1-6332-49E4-9889-173BDB5D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67375" cy="802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solidFill>
              <a:srgbClr val="F7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225F8-96FD-4C9C-BD9E-532CADDE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4867275" cy="2238375"/>
          </a:xfrm>
          <a:prstGeom xmlns:a="http://schemas.openxmlformats.org/drawingml/2006/main" prst="roundRect">
            <a:avLst>
              <a:gd name="adj" fmla="val 6809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0">
            <a:solidFill>
              <a:srgbClr val="071B3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31627B-1963-45D7-8534-B9F2145B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952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4FF"/>
          </a:solidFill>
          <a:ln xmlns:a="http://schemas.openxmlformats.org/drawingml/2006/main" w="0">
            <a:solidFill>
              <a:srgbClr val="1264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9A63A-9C11-4B72-BF2C-929E1204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0C7D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0C7D4"/>
                </a:solidFill>
                <a:latin typeface="Aptos"/>
                <a:ea typeface="Aptos"/>
                <a:cs typeface="Aptos"/>
              </a:rPr>
              <a:t>IR NEWS AND NOTICE TEMPLATE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9A2CD-C327-4D76-9C0D-26BE46F6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3857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IR News Release or Investor Notice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373D3-0905-4285-9888-2F4D29E3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7E5F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5F8"/>
                </a:solidFill>
                <a:latin typeface="Aptos"/>
                <a:ea typeface="Aptos"/>
                <a:cs typeface="Aptos"/>
              </a:rPr>
              <a:t>Concise announcement layout for material, source-backed financial or company updates.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03DF2-A8A8-4940-8D1C-8100C967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BreastScreening-AI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796D5-120A-4C55-91B2-BBE2A2D9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4FF"/>
          </a:solidFill>
          <a:ln xmlns:a="http://schemas.openxmlformats.org/drawingml/2006/main" w="0">
            <a:solidFill>
              <a:srgbClr val="1264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ABCEF-969A-45BD-831E-D80D0804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57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IR News and Notice Template | Publication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54CAC-A07A-4327-AF42-FC9921C5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7667625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4F545-B7D8-4455-84DC-65D234D6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524750"/>
            <a:ext cx="4867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F0"/>
          </a:solidFill>
          <a:ln xmlns:a="http://schemas.openxmlformats.org/drawingml/2006/main" w="0">
            <a:solidFill>
              <a:srgbClr val="D9E3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464B01-B778-4C34-86D1-D4E5BA75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3905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Template structure - replace placeholders with source-backed information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4F8D52-F46F-459C-A7EE-C6229107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1333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6355E5-4311-45BB-8835-07C2D174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[Metric 1]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969F08-7C26-415E-AFF2-026B68D0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Replace with source-backed figure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39BC7-C754-4E8F-89D0-DA515C29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29000"/>
            <a:ext cx="1333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89A62D-A5C3-49E9-91E1-FF70224E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004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[Metric 2]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605D8A-1DDC-4E58-BAE3-407AF75F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8481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Replace with source-backed figure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EA1993-C132-44CB-B92D-CF4B3072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29000"/>
            <a:ext cx="1333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746341-5519-4FA0-BF9F-623353DA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004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[Metric 3]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2D9B38-A07F-4E6F-8040-E896E09D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481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Replace with source-backed figure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0ECADC-FBDC-4314-95A5-8300F0D0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4495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366512-16E2-4B48-A512-A8863C8D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solidFill>
              <a:srgbClr val="C47A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8286CE-A6F1-4DBE-BC96-91D337D3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Evidence boundary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694BFA-129E-4B1D-9AE3-64615061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40767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State what the source supports, what remains pending, and which claims must not be made without additional evidence.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ED5E94-51C8-460B-97A9-41A4071E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21336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97BF1E-3BEC-4381-B1FC-9A5A8F82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75"/>
          </a:solidFill>
          <a:ln xmlns:a="http://schemas.openxmlformats.org/drawingml/2006/main" w="0">
            <a:solidFill>
              <a:srgbClr val="12A87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6BEEBF-1D55-45D7-9CF1-C0339649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76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Use for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07D02B-0889-4E92-BF69-7CE83D02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008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Grant updates, signed filings, public notices, investor communications, or approved company milestones.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AAEFFE-530B-43A5-B8D3-DC6B7CE5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715000"/>
            <a:ext cx="21336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6629EA-385A-4603-A2B3-45C65828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90550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solidFill>
              <a:srgbClr val="C47A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9DA966-6FBC-4D6A-85A9-FC52F36C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076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Avoid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334C2D-8DB7-4067-A3ED-F06A76AD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4008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Speculative commercial claims, unconfirmed partnerships, or incomplete funding events.</a:t>
            </a:r>
          </a:p>
        </p:txBody>
      </p:sp>
    </p:spTree>
    <p:extLst>
      <p:ext uri="{BB962C8B-B14F-4D97-AF65-F5344CB8AC3E}">
        <p14:creationId xmlns:p14="http://schemas.microsoft.com/office/powerpoint/2010/main" val="15409179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07095C-AF7B-4829-B8F2-464C7CD0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BreastScreening-AI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B84A2-0EB8-4DE4-B139-943F3A81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4FF"/>
          </a:solidFill>
          <a:ln xmlns:a="http://schemas.openxmlformats.org/drawingml/2006/main" w="0">
            <a:solidFill>
              <a:srgbClr val="1264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AB4E4-B8F9-4D03-B1D4-A439BDFF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57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IR News and Notice Template | Publication date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77C5D-2B02-47DE-ACB5-4A1D8337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7667625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C9643-8425-41DF-B4FE-1C62640C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524750"/>
            <a:ext cx="4867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F0"/>
          </a:solidFill>
          <a:ln xmlns:a="http://schemas.openxmlformats.org/drawingml/2006/main" w="0">
            <a:solidFill>
              <a:srgbClr val="D9E3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5FFEB-88B9-4D71-A9C6-1A02E0F0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3905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Template structure - replace placeholders with source-backed information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294CB-FBA1-4068-AF49-9EC06765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34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Announcement Body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4C2F5-33B9-4700-ACD7-46AA6570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Use factual wording and keep the event traceable to human-readable source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52E41-272D-4F28-96C0-3AF425C5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44958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0CDF4-BF8B-417C-B9BA-04EB34B4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4FF"/>
          </a:solidFill>
          <a:ln xmlns:a="http://schemas.openxmlformats.org/drawingml/2006/main" w="0">
            <a:solidFill>
              <a:srgbClr val="1264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3C416B-A2F0-4BBB-B3BB-D1BB8819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Headline and summary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18463-6E93-4997-A2E9-E3895C25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07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State what happened, the relevant date or reporting period, and the source-backed importance.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6F49C8-4C52-4AF8-A01D-F0B03E61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9950"/>
            <a:ext cx="2133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C1D04B-6143-40CA-B40B-B02E6BDD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75"/>
          </a:solidFill>
          <a:ln xmlns:a="http://schemas.openxmlformats.org/drawingml/2006/main" w="0">
            <a:solidFill>
              <a:srgbClr val="12A87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B08F46-6B98-4E21-8424-B3A2E0A6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Key figures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CE7142-2252-4891-A695-385A872D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Use cards only for supported amounts, dates, identifiers, or reporting metrics.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8ACD0D-86FE-479F-83A2-B3047F46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9950"/>
            <a:ext cx="2133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FD87B3-601D-4B65-BA50-67CE5942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0045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solidFill>
              <a:srgbClr val="C47A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0F9D00-8BD0-4A08-8611-16CB239F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71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What remains pending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576EC4-211D-498B-BDB8-3BCD9C7A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95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Identify missing payment schedules, audit details, customer proof, or regulatory confirmation.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BE5682-C5CB-4D80-B3D8-7763F249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44958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9162E1-AA2A-49FB-A7D6-B1FA20FD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00625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3"/>
          </a:solidFill>
          <a:ln xmlns:a="http://schemas.openxmlformats.org/drawingml/2006/main" w="0">
            <a:solidFill>
              <a:srgbClr val="071B3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5FD641-39B2-47DF-9F98-87AB95CD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Investor relevance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056248-33C6-4D0E-8DA6-C4D43EC1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95925"/>
            <a:ext cx="407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Explain why the event matters for diligence, runway, financial transparency, or strategic progress.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92D410-FC98-4D30-8243-D821E4EB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15050"/>
            <a:ext cx="4495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8EFBFA-3606-422E-9E75-EDBDDA47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0555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D4"/>
          </a:solidFill>
          <a:ln xmlns:a="http://schemas.openxmlformats.org/drawingml/2006/main" w="0">
            <a:solidFill>
              <a:srgbClr val="20C7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EE7F7B-0BE3-42E7-B104-E0B047B7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0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Publishing test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FCEDF1-C530-4A9D-A76A-DD1C5401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00850"/>
            <a:ext cx="4076700" cy="-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If the event cannot be traced to uploaded evidence or an approved public source, do not publish it as an IR item.</a:t>
            </a:r>
          </a:p>
        </p:txBody>
      </p:sp>
    </p:spTree>
    <p:extLst>
      <p:ext uri="{BB962C8B-B14F-4D97-AF65-F5344CB8AC3E}">
        <p14:creationId xmlns:p14="http://schemas.microsoft.com/office/powerpoint/2010/main" val="3359293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2026-06-15T11:06:37.7510000Z</dcterms:created>
  <dcterms:modified xsi:type="dcterms:W3CDTF">2026-06-15T11:06:37.7510000Z</dcterms:modified>
</coreProperties>
</file>